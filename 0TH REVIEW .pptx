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25" autoAdjust="0"/>
    <p:restoredTop sz="94660"/>
  </p:normalViewPr>
  <p:slideViewPr>
    <p:cSldViewPr snapToGrid="0">
      <p:cViewPr>
        <p:scale>
          <a:sx n="75" d="100"/>
          <a:sy n="75" d="100"/>
        </p:scale>
        <p:origin x="78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14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A87CF2-F0DE-4EA9-B15F-579F17EB9525}" type="doc">
      <dgm:prSet loTypeId="urn:microsoft.com/office/officeart/2005/8/layout/vList2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IN"/>
        </a:p>
      </dgm:t>
    </dgm:pt>
    <dgm:pt modelId="{44511B02-DA3A-43BA-BB63-71606D008F3C}">
      <dgm:prSet/>
      <dgm:spPr/>
      <dgm:t>
        <a:bodyPr/>
        <a:lstStyle/>
        <a:p>
          <a:r>
            <a:rPr lang="en-US" dirty="0"/>
            <a:t>Detect helmets, safety vests, gloves, and boots.</a:t>
          </a:r>
          <a:endParaRPr lang="en-IN" dirty="0"/>
        </a:p>
      </dgm:t>
    </dgm:pt>
    <dgm:pt modelId="{668E2866-67D4-4FF0-A9C0-47D081BE2AFF}" type="parTrans" cxnId="{82922F98-E43D-45DF-BCA9-10248B120E77}">
      <dgm:prSet/>
      <dgm:spPr/>
      <dgm:t>
        <a:bodyPr/>
        <a:lstStyle/>
        <a:p>
          <a:endParaRPr lang="en-IN"/>
        </a:p>
      </dgm:t>
    </dgm:pt>
    <dgm:pt modelId="{1A1642E3-8278-4BED-A724-2C57D8A2F2E6}" type="sibTrans" cxnId="{82922F98-E43D-45DF-BCA9-10248B120E77}">
      <dgm:prSet/>
      <dgm:spPr/>
      <dgm:t>
        <a:bodyPr/>
        <a:lstStyle/>
        <a:p>
          <a:endParaRPr lang="en-IN"/>
        </a:p>
      </dgm:t>
    </dgm:pt>
    <dgm:pt modelId="{2D403081-902D-404E-AFB9-40B53B863FA7}">
      <dgm:prSet/>
      <dgm:spPr/>
      <dgm:t>
        <a:bodyPr/>
        <a:lstStyle/>
        <a:p>
          <a:r>
            <a:rPr lang="en-US" dirty="0"/>
            <a:t>Identify hazards like fire, debris, and heavy machines.</a:t>
          </a:r>
          <a:endParaRPr lang="en-IN" dirty="0"/>
        </a:p>
      </dgm:t>
    </dgm:pt>
    <dgm:pt modelId="{3E4E9661-196D-4339-B9EC-06D21812AA9D}" type="parTrans" cxnId="{83E00FFA-8AF4-4681-B006-9B831DA31F20}">
      <dgm:prSet/>
      <dgm:spPr/>
      <dgm:t>
        <a:bodyPr/>
        <a:lstStyle/>
        <a:p>
          <a:endParaRPr lang="en-IN"/>
        </a:p>
      </dgm:t>
    </dgm:pt>
    <dgm:pt modelId="{A57B7C7D-4548-462D-9FCE-2870EF21A630}" type="sibTrans" cxnId="{83E00FFA-8AF4-4681-B006-9B831DA31F20}">
      <dgm:prSet/>
      <dgm:spPr/>
      <dgm:t>
        <a:bodyPr/>
        <a:lstStyle/>
        <a:p>
          <a:endParaRPr lang="en-IN"/>
        </a:p>
      </dgm:t>
    </dgm:pt>
    <dgm:pt modelId="{E928D3AB-653A-47C2-801F-19711292DBFB}">
      <dgm:prSet/>
      <dgm:spPr/>
      <dgm:t>
        <a:bodyPr/>
        <a:lstStyle/>
        <a:p>
          <a:r>
            <a:rPr lang="en-US" dirty="0"/>
            <a:t>Send alerts when safety rules are violated.</a:t>
          </a:r>
          <a:endParaRPr lang="en-IN" dirty="0"/>
        </a:p>
      </dgm:t>
    </dgm:pt>
    <dgm:pt modelId="{51A6261F-ED42-4C12-8D70-D9BA71CE7908}" type="parTrans" cxnId="{5D92E73D-D1F3-4B33-9A0E-59571B298EF5}">
      <dgm:prSet/>
      <dgm:spPr/>
      <dgm:t>
        <a:bodyPr/>
        <a:lstStyle/>
        <a:p>
          <a:endParaRPr lang="en-IN"/>
        </a:p>
      </dgm:t>
    </dgm:pt>
    <dgm:pt modelId="{2ABCEE0C-C5F1-47D1-9C32-08471D015FFD}" type="sibTrans" cxnId="{5D92E73D-D1F3-4B33-9A0E-59571B298EF5}">
      <dgm:prSet/>
      <dgm:spPr/>
      <dgm:t>
        <a:bodyPr/>
        <a:lstStyle/>
        <a:p>
          <a:endParaRPr lang="en-IN"/>
        </a:p>
      </dgm:t>
    </dgm:pt>
    <dgm:pt modelId="{947E4660-9E4D-4AD0-9279-656CF3B52784}">
      <dgm:prSet/>
      <dgm:spPr/>
      <dgm:t>
        <a:bodyPr/>
        <a:lstStyle/>
        <a:p>
          <a:r>
            <a:rPr lang="en-US" dirty="0"/>
            <a:t>Reduce manual safety inspections.</a:t>
          </a:r>
          <a:endParaRPr lang="en-IN" dirty="0"/>
        </a:p>
      </dgm:t>
    </dgm:pt>
    <dgm:pt modelId="{7A3AC39A-7A07-4985-B7D8-5EA780A22932}" type="parTrans" cxnId="{49A1AFA0-19C7-40F7-A46A-91AE49E7FA7D}">
      <dgm:prSet/>
      <dgm:spPr/>
      <dgm:t>
        <a:bodyPr/>
        <a:lstStyle/>
        <a:p>
          <a:endParaRPr lang="en-IN"/>
        </a:p>
      </dgm:t>
    </dgm:pt>
    <dgm:pt modelId="{B970EF25-4807-4B3D-ADBB-5BFAC2E8E8C8}" type="sibTrans" cxnId="{49A1AFA0-19C7-40F7-A46A-91AE49E7FA7D}">
      <dgm:prSet/>
      <dgm:spPr/>
      <dgm:t>
        <a:bodyPr/>
        <a:lstStyle/>
        <a:p>
          <a:endParaRPr lang="en-IN"/>
        </a:p>
      </dgm:t>
    </dgm:pt>
    <dgm:pt modelId="{7D3D5EDF-AA65-4833-A0B4-09F7D57FB781}">
      <dgm:prSet/>
      <dgm:spPr/>
      <dgm:t>
        <a:bodyPr/>
        <a:lstStyle/>
        <a:p>
          <a:r>
            <a:rPr lang="en-US" dirty="0"/>
            <a:t>Improve worker safety and productivity.</a:t>
          </a:r>
          <a:endParaRPr lang="en-IN" dirty="0"/>
        </a:p>
      </dgm:t>
    </dgm:pt>
    <dgm:pt modelId="{D150E8B5-5FBE-4486-8D36-026BE7D971F9}" type="parTrans" cxnId="{CE5D38DB-DB9C-4E5B-967A-50A91350E3C7}">
      <dgm:prSet/>
      <dgm:spPr/>
      <dgm:t>
        <a:bodyPr/>
        <a:lstStyle/>
        <a:p>
          <a:endParaRPr lang="en-IN"/>
        </a:p>
      </dgm:t>
    </dgm:pt>
    <dgm:pt modelId="{32A1F9C0-2047-4198-8743-AF2B997F4332}" type="sibTrans" cxnId="{CE5D38DB-DB9C-4E5B-967A-50A91350E3C7}">
      <dgm:prSet/>
      <dgm:spPr/>
      <dgm:t>
        <a:bodyPr/>
        <a:lstStyle/>
        <a:p>
          <a:endParaRPr lang="en-IN"/>
        </a:p>
      </dgm:t>
    </dgm:pt>
    <dgm:pt modelId="{65EE3960-2C99-4301-894F-6E262709CFB7}" type="pres">
      <dgm:prSet presAssocID="{40A87CF2-F0DE-4EA9-B15F-579F17EB9525}" presName="linear" presStyleCnt="0">
        <dgm:presLayoutVars>
          <dgm:animLvl val="lvl"/>
          <dgm:resizeHandles val="exact"/>
        </dgm:presLayoutVars>
      </dgm:prSet>
      <dgm:spPr/>
    </dgm:pt>
    <dgm:pt modelId="{934725B4-858B-49EF-BB36-75C558E4D90A}" type="pres">
      <dgm:prSet presAssocID="{44511B02-DA3A-43BA-BB63-71606D008F3C}" presName="parentText" presStyleLbl="node1" presStyleIdx="0" presStyleCnt="5" custLinFactNeighborY="14380">
        <dgm:presLayoutVars>
          <dgm:chMax val="0"/>
          <dgm:bulletEnabled val="1"/>
        </dgm:presLayoutVars>
      </dgm:prSet>
      <dgm:spPr/>
    </dgm:pt>
    <dgm:pt modelId="{A556D8A0-85B1-4C8E-8D70-65DF54A85330}" type="pres">
      <dgm:prSet presAssocID="{1A1642E3-8278-4BED-A724-2C57D8A2F2E6}" presName="spacer" presStyleCnt="0"/>
      <dgm:spPr/>
    </dgm:pt>
    <dgm:pt modelId="{05205B00-5333-4E97-BCC7-7BB6260EF31D}" type="pres">
      <dgm:prSet presAssocID="{2D403081-902D-404E-AFB9-40B53B863FA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2839DC4-42A8-4F07-A2CB-CD54CC5B7F86}" type="pres">
      <dgm:prSet presAssocID="{A57B7C7D-4548-462D-9FCE-2870EF21A630}" presName="spacer" presStyleCnt="0"/>
      <dgm:spPr/>
    </dgm:pt>
    <dgm:pt modelId="{C0C6D964-B558-4D1D-A3A8-F7EEE516AE7B}" type="pres">
      <dgm:prSet presAssocID="{E928D3AB-653A-47C2-801F-19711292DBF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1CC4A90-73D8-4423-AA8F-391E58C25DA0}" type="pres">
      <dgm:prSet presAssocID="{2ABCEE0C-C5F1-47D1-9C32-08471D015FFD}" presName="spacer" presStyleCnt="0"/>
      <dgm:spPr/>
    </dgm:pt>
    <dgm:pt modelId="{F3979B5B-2B69-49B5-A840-E75D97724348}" type="pres">
      <dgm:prSet presAssocID="{947E4660-9E4D-4AD0-9279-656CF3B5278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901428A-2DF6-429F-AE5B-7CB2669543A4}" type="pres">
      <dgm:prSet presAssocID="{B970EF25-4807-4B3D-ADBB-5BFAC2E8E8C8}" presName="spacer" presStyleCnt="0"/>
      <dgm:spPr/>
    </dgm:pt>
    <dgm:pt modelId="{3B7BB5E6-4B1E-4941-A51D-05DA65411744}" type="pres">
      <dgm:prSet presAssocID="{7D3D5EDF-AA65-4833-A0B4-09F7D57FB78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25B3E04-BC2D-445C-9D1A-BBFF9E07E7BE}" type="presOf" srcId="{E928D3AB-653A-47C2-801F-19711292DBFB}" destId="{C0C6D964-B558-4D1D-A3A8-F7EEE516AE7B}" srcOrd="0" destOrd="0" presId="urn:microsoft.com/office/officeart/2005/8/layout/vList2"/>
    <dgm:cxn modelId="{39C07422-C69D-4D9B-917E-D95AAFAC7491}" type="presOf" srcId="{947E4660-9E4D-4AD0-9279-656CF3B52784}" destId="{F3979B5B-2B69-49B5-A840-E75D97724348}" srcOrd="0" destOrd="0" presId="urn:microsoft.com/office/officeart/2005/8/layout/vList2"/>
    <dgm:cxn modelId="{5D92E73D-D1F3-4B33-9A0E-59571B298EF5}" srcId="{40A87CF2-F0DE-4EA9-B15F-579F17EB9525}" destId="{E928D3AB-653A-47C2-801F-19711292DBFB}" srcOrd="2" destOrd="0" parTransId="{51A6261F-ED42-4C12-8D70-D9BA71CE7908}" sibTransId="{2ABCEE0C-C5F1-47D1-9C32-08471D015FFD}"/>
    <dgm:cxn modelId="{8B20116C-29EB-428D-BF75-EE33A4CDB01D}" type="presOf" srcId="{44511B02-DA3A-43BA-BB63-71606D008F3C}" destId="{934725B4-858B-49EF-BB36-75C558E4D90A}" srcOrd="0" destOrd="0" presId="urn:microsoft.com/office/officeart/2005/8/layout/vList2"/>
    <dgm:cxn modelId="{F7E4B582-4823-49A8-B49B-740A5E688DD5}" type="presOf" srcId="{7D3D5EDF-AA65-4833-A0B4-09F7D57FB781}" destId="{3B7BB5E6-4B1E-4941-A51D-05DA65411744}" srcOrd="0" destOrd="0" presId="urn:microsoft.com/office/officeart/2005/8/layout/vList2"/>
    <dgm:cxn modelId="{82922F98-E43D-45DF-BCA9-10248B120E77}" srcId="{40A87CF2-F0DE-4EA9-B15F-579F17EB9525}" destId="{44511B02-DA3A-43BA-BB63-71606D008F3C}" srcOrd="0" destOrd="0" parTransId="{668E2866-67D4-4FF0-A9C0-47D081BE2AFF}" sibTransId="{1A1642E3-8278-4BED-A724-2C57D8A2F2E6}"/>
    <dgm:cxn modelId="{C3FDFB9B-5666-450A-B58C-2FBB3A255CC8}" type="presOf" srcId="{40A87CF2-F0DE-4EA9-B15F-579F17EB9525}" destId="{65EE3960-2C99-4301-894F-6E262709CFB7}" srcOrd="0" destOrd="0" presId="urn:microsoft.com/office/officeart/2005/8/layout/vList2"/>
    <dgm:cxn modelId="{49A1AFA0-19C7-40F7-A46A-91AE49E7FA7D}" srcId="{40A87CF2-F0DE-4EA9-B15F-579F17EB9525}" destId="{947E4660-9E4D-4AD0-9279-656CF3B52784}" srcOrd="3" destOrd="0" parTransId="{7A3AC39A-7A07-4985-B7D8-5EA780A22932}" sibTransId="{B970EF25-4807-4B3D-ADBB-5BFAC2E8E8C8}"/>
    <dgm:cxn modelId="{CE5D38DB-DB9C-4E5B-967A-50A91350E3C7}" srcId="{40A87CF2-F0DE-4EA9-B15F-579F17EB9525}" destId="{7D3D5EDF-AA65-4833-A0B4-09F7D57FB781}" srcOrd="4" destOrd="0" parTransId="{D150E8B5-5FBE-4486-8D36-026BE7D971F9}" sibTransId="{32A1F9C0-2047-4198-8743-AF2B997F4332}"/>
    <dgm:cxn modelId="{0E539BE4-EC48-4A0B-AA6D-7E51B701D07D}" type="presOf" srcId="{2D403081-902D-404E-AFB9-40B53B863FA7}" destId="{05205B00-5333-4E97-BCC7-7BB6260EF31D}" srcOrd="0" destOrd="0" presId="urn:microsoft.com/office/officeart/2005/8/layout/vList2"/>
    <dgm:cxn modelId="{83E00FFA-8AF4-4681-B006-9B831DA31F20}" srcId="{40A87CF2-F0DE-4EA9-B15F-579F17EB9525}" destId="{2D403081-902D-404E-AFB9-40B53B863FA7}" srcOrd="1" destOrd="0" parTransId="{3E4E9661-196D-4339-B9EC-06D21812AA9D}" sibTransId="{A57B7C7D-4548-462D-9FCE-2870EF21A630}"/>
    <dgm:cxn modelId="{7F2AA452-984F-44AF-960A-8B4B58EF96D2}" type="presParOf" srcId="{65EE3960-2C99-4301-894F-6E262709CFB7}" destId="{934725B4-858B-49EF-BB36-75C558E4D90A}" srcOrd="0" destOrd="0" presId="urn:microsoft.com/office/officeart/2005/8/layout/vList2"/>
    <dgm:cxn modelId="{1E37DC65-5965-48D6-90A2-F32EE38848F7}" type="presParOf" srcId="{65EE3960-2C99-4301-894F-6E262709CFB7}" destId="{A556D8A0-85B1-4C8E-8D70-65DF54A85330}" srcOrd="1" destOrd="0" presId="urn:microsoft.com/office/officeart/2005/8/layout/vList2"/>
    <dgm:cxn modelId="{6945D357-F17A-4B09-ACA6-72F7DEE3ABE3}" type="presParOf" srcId="{65EE3960-2C99-4301-894F-6E262709CFB7}" destId="{05205B00-5333-4E97-BCC7-7BB6260EF31D}" srcOrd="2" destOrd="0" presId="urn:microsoft.com/office/officeart/2005/8/layout/vList2"/>
    <dgm:cxn modelId="{D2071CE4-E762-4C49-B22B-8E7A19ED1E21}" type="presParOf" srcId="{65EE3960-2C99-4301-894F-6E262709CFB7}" destId="{42839DC4-42A8-4F07-A2CB-CD54CC5B7F86}" srcOrd="3" destOrd="0" presId="urn:microsoft.com/office/officeart/2005/8/layout/vList2"/>
    <dgm:cxn modelId="{F39C0B0A-4164-4020-9FD5-1CCFFC0A80C2}" type="presParOf" srcId="{65EE3960-2C99-4301-894F-6E262709CFB7}" destId="{C0C6D964-B558-4D1D-A3A8-F7EEE516AE7B}" srcOrd="4" destOrd="0" presId="urn:microsoft.com/office/officeart/2005/8/layout/vList2"/>
    <dgm:cxn modelId="{D13D4FB8-4AA1-4908-B3FF-549DC47C10C1}" type="presParOf" srcId="{65EE3960-2C99-4301-894F-6E262709CFB7}" destId="{21CC4A90-73D8-4423-AA8F-391E58C25DA0}" srcOrd="5" destOrd="0" presId="urn:microsoft.com/office/officeart/2005/8/layout/vList2"/>
    <dgm:cxn modelId="{F341A9CF-922B-40DD-B9E6-CADEF2B57C66}" type="presParOf" srcId="{65EE3960-2C99-4301-894F-6E262709CFB7}" destId="{F3979B5B-2B69-49B5-A840-E75D97724348}" srcOrd="6" destOrd="0" presId="urn:microsoft.com/office/officeart/2005/8/layout/vList2"/>
    <dgm:cxn modelId="{3C4AC05E-71EB-40E2-B84B-31570E9BACFD}" type="presParOf" srcId="{65EE3960-2C99-4301-894F-6E262709CFB7}" destId="{0901428A-2DF6-429F-AE5B-7CB2669543A4}" srcOrd="7" destOrd="0" presId="urn:microsoft.com/office/officeart/2005/8/layout/vList2"/>
    <dgm:cxn modelId="{BFCD0A13-EE8E-476C-89D2-6ACCE357645B}" type="presParOf" srcId="{65EE3960-2C99-4301-894F-6E262709CFB7}" destId="{3B7BB5E6-4B1E-4941-A51D-05DA6541174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725B4-858B-49EF-BB36-75C558E4D90A}">
      <dsp:nvSpPr>
        <dsp:cNvPr id="0" name=""/>
        <dsp:cNvSpPr/>
      </dsp:nvSpPr>
      <dsp:spPr>
        <a:xfrm>
          <a:off x="0" y="58063"/>
          <a:ext cx="54483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Detect helmets, safety vests, gloves, and boots.</a:t>
          </a:r>
          <a:endParaRPr lang="en-IN" sz="2300" kern="1200" dirty="0"/>
        </a:p>
      </dsp:txBody>
      <dsp:txXfrm>
        <a:off x="43350" y="101413"/>
        <a:ext cx="5361600" cy="801330"/>
      </dsp:txXfrm>
    </dsp:sp>
    <dsp:sp modelId="{05205B00-5333-4E97-BCC7-7BB6260EF31D}">
      <dsp:nvSpPr>
        <dsp:cNvPr id="0" name=""/>
        <dsp:cNvSpPr/>
      </dsp:nvSpPr>
      <dsp:spPr>
        <a:xfrm>
          <a:off x="0" y="1002808"/>
          <a:ext cx="54483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Identify hazards like fire, debris, and heavy machines.</a:t>
          </a:r>
          <a:endParaRPr lang="en-IN" sz="2300" kern="1200" dirty="0"/>
        </a:p>
      </dsp:txBody>
      <dsp:txXfrm>
        <a:off x="43350" y="1046158"/>
        <a:ext cx="5361600" cy="801330"/>
      </dsp:txXfrm>
    </dsp:sp>
    <dsp:sp modelId="{C0C6D964-B558-4D1D-A3A8-F7EEE516AE7B}">
      <dsp:nvSpPr>
        <dsp:cNvPr id="0" name=""/>
        <dsp:cNvSpPr/>
      </dsp:nvSpPr>
      <dsp:spPr>
        <a:xfrm>
          <a:off x="0" y="1957078"/>
          <a:ext cx="54483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Send alerts when safety rules are violated.</a:t>
          </a:r>
          <a:endParaRPr lang="en-IN" sz="2300" kern="1200" dirty="0"/>
        </a:p>
      </dsp:txBody>
      <dsp:txXfrm>
        <a:off x="43350" y="2000428"/>
        <a:ext cx="5361600" cy="801330"/>
      </dsp:txXfrm>
    </dsp:sp>
    <dsp:sp modelId="{F3979B5B-2B69-49B5-A840-E75D97724348}">
      <dsp:nvSpPr>
        <dsp:cNvPr id="0" name=""/>
        <dsp:cNvSpPr/>
      </dsp:nvSpPr>
      <dsp:spPr>
        <a:xfrm>
          <a:off x="0" y="2911348"/>
          <a:ext cx="54483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Reduce manual safety inspections.</a:t>
          </a:r>
          <a:endParaRPr lang="en-IN" sz="2300" kern="1200" dirty="0"/>
        </a:p>
      </dsp:txBody>
      <dsp:txXfrm>
        <a:off x="43350" y="2954698"/>
        <a:ext cx="5361600" cy="801330"/>
      </dsp:txXfrm>
    </dsp:sp>
    <dsp:sp modelId="{3B7BB5E6-4B1E-4941-A51D-05DA65411744}">
      <dsp:nvSpPr>
        <dsp:cNvPr id="0" name=""/>
        <dsp:cNvSpPr/>
      </dsp:nvSpPr>
      <dsp:spPr>
        <a:xfrm>
          <a:off x="0" y="3865618"/>
          <a:ext cx="54483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Improve worker safety and productivity.</a:t>
          </a:r>
          <a:endParaRPr lang="en-IN" sz="2300" kern="1200" dirty="0"/>
        </a:p>
      </dsp:txBody>
      <dsp:txXfrm>
        <a:off x="43350" y="3908968"/>
        <a:ext cx="5361600" cy="801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75873-BD02-4BAF-BC44-547A341706D6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73F0C-FD37-44EC-8140-29A288373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533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59BC-B740-D0A0-4DF5-3B4E0AC48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A0EBF-AA7B-603D-40B1-7A346C01C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1ADA9-EC29-9153-574B-C810D966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952FB-2A13-0735-6B36-76034C20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719B2-8B22-B278-A271-93DBABDD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301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92D8E-375B-989A-A79E-4F1CA49B5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E9D41-22A7-79EC-3DB6-B98C480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104C4-86D9-1508-B523-18BBF8A5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90D1-7F6B-403B-9CD6-83690F64B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0A312-8924-A692-7699-0B2EF675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2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2524-5CA9-90CB-B5B6-1D2BF910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82128-2300-37C1-C97B-FA1877D42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E11EA-F6ED-044E-5E5D-D08E4C56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15CB2-3550-DFBE-3849-C52E9B8B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EB23F-0476-4F49-9956-28232374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984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7BAB-AA4A-8619-9076-B96A0AA0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E60AB-F743-612C-60C1-E67C20E3B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095D3-9A53-AADF-DF9A-2FA5697F6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1D077-9BF3-12BA-390F-54B6B331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40271-03B7-C8B6-74AC-BD98E662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E4BDD-B372-249E-E755-29D39E4B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7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BBB4-19C2-A407-0E8A-042DE926A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8BE62-A60B-C66C-A636-194BA3F35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949B3-0F1D-4B08-45F5-AC5339CAF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9246B7-0150-21F6-6214-02C851CFD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7321C-0127-9434-4E19-4F030495C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F8CB8-FE23-76C6-EF8C-6D18F364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17C7A-5FD1-1D7C-56C3-311FB88C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2D602-54AA-4A13-3F60-586F082E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25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58A0-B8E3-EFD5-0817-7F83679E9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C9A0E-C3CC-565D-D7EE-CC5D4A88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E1F1B-86FF-BCB1-7B7E-4213E87B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D9483-3246-33F6-A0CE-F34ADDF6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382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D4AEA-CB7E-8666-9DA0-8FD6D9B5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511AF-E158-A30E-289E-B2102A32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A0DC3-2F3A-D019-48B1-F5566AA4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787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78BB-9441-2E85-2345-49CE3AD0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F39E-73B5-3798-9596-57DD2C276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627DC-EE64-202E-2643-06AF58380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A5449-7CC4-D689-5747-57FE4FD8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03175-7029-E872-3738-0A519A0F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8A902-F117-26F7-E59B-5EB86B94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72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E841-93C6-1025-FEEB-AEC9A531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EE3F7-8CE7-53CD-D3EC-C41DBA765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D23B7-3784-20BA-B2E0-533C5CD26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331BE-D690-B499-645D-A1341A94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1ED86-DC0B-4FCE-8155-C0F34D7D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338B2-CAB9-A839-9950-A7DEBCDF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70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EED0-227A-FAF7-4B9D-7F23296F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2350-ABCF-CB57-7C88-A4D882EB3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EAD57-DF03-A7D7-0703-7D92E2293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455E-D676-4BC9-0289-B641710C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C2362-EB98-6942-71C1-2235CC4D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46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6C08D5-A24B-7FC0-A983-DFAA425F1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4937F-CAE7-9FE0-3B48-6505FA57F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4D56-0F4C-986C-BFE1-A9C9501E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B81A2-1E2A-8F23-80BB-945BAEC6C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7F7CC-96DB-80EC-0567-E89556F2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621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pattFill prst="pct5">
          <a:fgClr>
            <a:schemeClr val="accent6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70857B-75D8-2638-B3E7-BC1C982F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AA122-69A2-09B0-CF6F-201999D9B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20239-9C95-F1A3-56D4-5F5AD7627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772AD-8450-47D0-8627-E3C3128CBE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BE2F-0792-AF23-771C-C489951A1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AF8D-9372-A5EE-7C3A-9B8A52F4F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946B-3B53-4544-BF19-401F84D1E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19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6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D300-AB1B-6E75-33A8-52BACF51A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4424"/>
            <a:ext cx="9496425" cy="1795463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PPE Detection And Hazard Recognition Using Computer Vision And EfficientDet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BD020-F539-DAA5-E439-728780271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2" y="3021013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 02 – COMPUTER VISION WITH OPENCV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D35B8-5ED1-02F2-E9F2-545228569B81}"/>
              </a:ext>
            </a:extLst>
          </p:cNvPr>
          <p:cNvSpPr txBox="1"/>
          <p:nvPr/>
        </p:nvSpPr>
        <p:spPr>
          <a:xfrm>
            <a:off x="8677275" y="5010150"/>
            <a:ext cx="354776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KANMANI K B (192524306)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ABBIRAMY V G (192524097)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0FF8B-DB76-B94C-C76C-7A73E96FCAD3}"/>
              </a:ext>
            </a:extLst>
          </p:cNvPr>
          <p:cNvSpPr txBox="1"/>
          <p:nvPr/>
        </p:nvSpPr>
        <p:spPr>
          <a:xfrm>
            <a:off x="790576" y="5010150"/>
            <a:ext cx="23161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G A SENTHIL</a:t>
            </a:r>
          </a:p>
        </p:txBody>
      </p:sp>
      <p:pic>
        <p:nvPicPr>
          <p:cNvPr id="8" name="Google Shape;161;p1">
            <a:extLst>
              <a:ext uri="{FF2B5EF4-FFF2-40B4-BE49-F238E27FC236}">
                <a16:creationId xmlns:a16="http://schemas.microsoft.com/office/drawing/2014/main" id="{3EB61D86-FA04-4518-9105-5A7F9C75A2C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2886" y="109536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62;p1">
            <a:extLst>
              <a:ext uri="{FF2B5EF4-FFF2-40B4-BE49-F238E27FC236}">
                <a16:creationId xmlns:a16="http://schemas.microsoft.com/office/drawing/2014/main" id="{4FEF737B-4A2B-CC56-AE50-86FE70A236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9415" y="109536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714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B015-54F4-8456-80F6-DAAC0120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431800"/>
            <a:ext cx="3581400" cy="1325563"/>
          </a:xfrm>
        </p:spPr>
        <p:txBody>
          <a:bodyPr/>
          <a:lstStyle/>
          <a:p>
            <a:pPr algn="ctr"/>
            <a:r>
              <a:rPr lang="en-US" dirty="0"/>
              <a:t>Scope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17DF4-37ED-E8B7-1C75-9EEA7C44CC02}"/>
              </a:ext>
            </a:extLst>
          </p:cNvPr>
          <p:cNvGrpSpPr/>
          <p:nvPr/>
        </p:nvGrpSpPr>
        <p:grpSpPr>
          <a:xfrm>
            <a:off x="647700" y="1715714"/>
            <a:ext cx="5448300" cy="4628310"/>
            <a:chOff x="647700" y="1715714"/>
            <a:chExt cx="5448300" cy="462831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90A859E-F22F-2C57-FE44-0898CDB3790B}"/>
                </a:ext>
              </a:extLst>
            </p:cNvPr>
            <p:cNvSpPr/>
            <p:nvPr/>
          </p:nvSpPr>
          <p:spPr>
            <a:xfrm>
              <a:off x="647700" y="1715714"/>
              <a:ext cx="5448300" cy="874575"/>
            </a:xfrm>
            <a:prstGeom prst="roundRect">
              <a:avLst/>
            </a:prstGeom>
          </p:spPr>
          <p:style>
            <a:lnRef idx="2">
              <a:schemeClr val="accent5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0323" tIns="130323" rIns="130323" bIns="130323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Monitor construction sites using AI.</a:t>
              </a:r>
              <a:endParaRPr lang="en-IN" sz="2300" kern="12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E96E1E5-8D2B-1321-2B33-14F53D97ED8C}"/>
                </a:ext>
              </a:extLst>
            </p:cNvPr>
            <p:cNvSpPr/>
            <p:nvPr/>
          </p:nvSpPr>
          <p:spPr>
            <a:xfrm>
              <a:off x="647700" y="2647003"/>
              <a:ext cx="5448300" cy="874575"/>
            </a:xfrm>
            <a:prstGeom prst="roundRect">
              <a:avLst/>
            </a:prstGeom>
          </p:spPr>
          <p:style>
            <a:lnRef idx="2">
              <a:schemeClr val="accent5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0323" tIns="130323" rIns="130323" bIns="130323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/>
                <a:t>Detect whether workers wear PPE.</a:t>
              </a:r>
              <a:endParaRPr lang="en-IN" sz="2300" kern="12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07F0C5-769E-DA45-B7A3-0C2D51B96ABB}"/>
                </a:ext>
              </a:extLst>
            </p:cNvPr>
            <p:cNvSpPr/>
            <p:nvPr/>
          </p:nvSpPr>
          <p:spPr>
            <a:xfrm>
              <a:off x="647700" y="3587819"/>
              <a:ext cx="5448300" cy="874575"/>
            </a:xfrm>
            <a:prstGeom prst="roundRect">
              <a:avLst/>
            </a:prstGeom>
          </p:spPr>
          <p:style>
            <a:lnRef idx="2">
              <a:schemeClr val="accent5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0323" tIns="130323" rIns="130323" bIns="130323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/>
                <a:t>Identify unsafe conditions and hazards.</a:t>
              </a:r>
              <a:endParaRPr lang="en-IN" sz="2300" kern="12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CCE661-EB17-F8B6-92E7-1C57F2B86DFA}"/>
                </a:ext>
              </a:extLst>
            </p:cNvPr>
            <p:cNvSpPr/>
            <p:nvPr/>
          </p:nvSpPr>
          <p:spPr>
            <a:xfrm>
              <a:off x="647700" y="4528634"/>
              <a:ext cx="5448300" cy="874575"/>
            </a:xfrm>
            <a:prstGeom prst="roundRect">
              <a:avLst/>
            </a:prstGeom>
          </p:spPr>
          <p:style>
            <a:lnRef idx="2">
              <a:schemeClr val="accent5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0323" tIns="130323" rIns="130323" bIns="130323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/>
                <a:t>Improve workplace safety.</a:t>
              </a:r>
              <a:endParaRPr lang="en-IN" sz="2300" kern="12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80E989-931B-4AF1-9271-F38339875FAA}"/>
                </a:ext>
              </a:extLst>
            </p:cNvPr>
            <p:cNvSpPr/>
            <p:nvPr/>
          </p:nvSpPr>
          <p:spPr>
            <a:xfrm>
              <a:off x="647700" y="5469449"/>
              <a:ext cx="5448300" cy="874575"/>
            </a:xfrm>
            <a:prstGeom prst="roundRect">
              <a:avLst/>
            </a:prstGeom>
          </p:spPr>
          <p:style>
            <a:lnRef idx="2">
              <a:schemeClr val="accent5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0323" tIns="130323" rIns="130323" bIns="130323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/>
                <a:t>Reduce accidents with real-time monitoring.</a:t>
              </a:r>
              <a:endParaRPr lang="en-IN" sz="2300" kern="1200"/>
            </a:p>
          </p:txBody>
        </p:sp>
      </p:grp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024E028-73D0-D73B-E287-23E21D4313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8783172"/>
              </p:ext>
            </p:extLst>
          </p:nvPr>
        </p:nvGraphicFramePr>
        <p:xfrm>
          <a:off x="6286500" y="1657351"/>
          <a:ext cx="5448300" cy="4802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FB8C80D8-2599-2D79-613E-A3096ACC9EE6}"/>
              </a:ext>
            </a:extLst>
          </p:cNvPr>
          <p:cNvSpPr txBox="1">
            <a:spLocks/>
          </p:cNvSpPr>
          <p:nvPr/>
        </p:nvSpPr>
        <p:spPr>
          <a:xfrm>
            <a:off x="7219950" y="536575"/>
            <a:ext cx="3581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Objectives</a:t>
            </a:r>
            <a:endParaRPr lang="en-IN" dirty="0"/>
          </a:p>
        </p:txBody>
      </p:sp>
      <p:pic>
        <p:nvPicPr>
          <p:cNvPr id="9" name="Google Shape;161;p1">
            <a:extLst>
              <a:ext uri="{FF2B5EF4-FFF2-40B4-BE49-F238E27FC236}">
                <a16:creationId xmlns:a16="http://schemas.microsoft.com/office/drawing/2014/main" id="{6570BFAD-5923-FC99-F5C0-4DCB6803EC5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2886" y="109536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62;p1">
            <a:extLst>
              <a:ext uri="{FF2B5EF4-FFF2-40B4-BE49-F238E27FC236}">
                <a16:creationId xmlns:a16="http://schemas.microsoft.com/office/drawing/2014/main" id="{F6368D28-367B-479F-BFC7-2E1CE16AEBA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59415" y="109536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292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B8E2-939F-D0DF-2BB5-BC95A60A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C2584-0389-4AA9-7BE6-DD1C57E8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315" y="2046968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ConstructionGuard AI is an AI-based safety monitoring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computer vision and EfficientDet for object detection.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 whether workers wear required PPE.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hazards such as fire, debris, and unsafe areas.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sends, alerts when safety violations are found.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reduce accidents and improve construction site safety.</a:t>
            </a:r>
          </a:p>
        </p:txBody>
      </p:sp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2B7F74EA-E90F-2B3F-7917-B35B4312B56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2886" y="109536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E5F5740E-750A-FFED-53A2-449CE9F72E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9415" y="153078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7735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E3D5-0DD3-FC6C-3361-46129DD0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857" y="31353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F1E4C-8E82-FE97-26A6-1F6D22B02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857" y="2193132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sites have a high risk of accidents.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Workers may forget to wear safety equipment.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is slow and may miss violations.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monitor the site continuously using cameras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EfficientDet detects workers, PPE, and hazards in real time.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safety and ensures better compliance with safety rules.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87535645-43AB-BCF1-9567-99D608A5DD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2886" y="109536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969F5D80-D168-CB2E-D609-F57DF05388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9415" y="109536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9465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0CD1-7E15-4A14-52C7-684E399A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143" y="2675731"/>
            <a:ext cx="10515600" cy="132556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84B4C-D7CB-8465-DC7A-A0EA46CA2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48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Intelligent PPE Detection And Hazard Recognition Using Computer Vision And EfficientDet</vt:lpstr>
      <vt:lpstr>Scope</vt:lpstr>
      <vt:lpstr>Abstract</vt:lpstr>
      <vt:lpstr>Introduction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Kanmani</dc:creator>
  <cp:lastModifiedBy>Kanmani</cp:lastModifiedBy>
  <cp:revision>1</cp:revision>
  <dcterms:created xsi:type="dcterms:W3CDTF">2026-07-29T06:14:42Z</dcterms:created>
  <dcterms:modified xsi:type="dcterms:W3CDTF">2026-07-29T06:15:08Z</dcterms:modified>
</cp:coreProperties>
</file>