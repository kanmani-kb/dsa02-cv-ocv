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56" r:id="rId5"/>
    <p:sldId id="257" r:id="rId6"/>
    <p:sldId id="286" r:id="rId7"/>
    <p:sldId id="288" r:id="rId8"/>
    <p:sldId id="289" r:id="rId9"/>
    <p:sldId id="297" r:id="rId10"/>
    <p:sldId id="29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100" d="100"/>
          <a:sy n="100" d="100"/>
        </p:scale>
        <p:origin x="96"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7/20/2026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7/20/2026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691243" y="1038225"/>
            <a:ext cx="7096933" cy="2072318"/>
          </a:xfrm>
        </p:spPr>
        <p:txBody>
          <a:bodyPr/>
          <a:lstStyle/>
          <a:p>
            <a:r>
              <a:rPr lang="en-US" sz="7200" dirty="0"/>
              <a:t>TECHNICAL PRESENTATION</a:t>
            </a:r>
          </a:p>
        </p:txBody>
      </p:sp>
      <p:sp>
        <p:nvSpPr>
          <p:cNvPr id="3" name="TextBox 2">
            <a:extLst>
              <a:ext uri="{FF2B5EF4-FFF2-40B4-BE49-F238E27FC236}">
                <a16:creationId xmlns:a16="http://schemas.microsoft.com/office/drawing/2014/main" id="{D0843C39-CFED-CD82-2FFB-749515AFF3BA}"/>
              </a:ext>
            </a:extLst>
          </p:cNvPr>
          <p:cNvSpPr txBox="1"/>
          <p:nvPr/>
        </p:nvSpPr>
        <p:spPr>
          <a:xfrm>
            <a:off x="6334124" y="4558695"/>
            <a:ext cx="4829175" cy="2308324"/>
          </a:xfrm>
          <a:prstGeom prst="rect">
            <a:avLst/>
          </a:prstGeom>
          <a:noFill/>
        </p:spPr>
        <p:txBody>
          <a:bodyPr wrap="square" rtlCol="0">
            <a:spAutoFit/>
          </a:bodyPr>
          <a:lstStyle/>
          <a:p>
            <a:r>
              <a:rPr lang="en-US" sz="4800" spc="-150" dirty="0"/>
              <a:t>DONE BY:</a:t>
            </a:r>
          </a:p>
          <a:p>
            <a:r>
              <a:rPr lang="en-US" sz="4800" spc="-150" dirty="0"/>
              <a:t>    KANMANI K B</a:t>
            </a:r>
          </a:p>
          <a:p>
            <a:r>
              <a:rPr lang="en-US" sz="4800" spc="-150" dirty="0"/>
              <a:t>    (192524306)</a:t>
            </a:r>
            <a:endParaRPr lang="en-IN" sz="4800" spc="-150"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539739" y="102021"/>
            <a:ext cx="10185411" cy="1744415"/>
          </a:xfrm>
        </p:spPr>
        <p:txBody>
          <a:bodyPr/>
          <a:lstStyle/>
          <a:p>
            <a:pPr algn="ctr"/>
            <a:br>
              <a:rPr lang="en-IN" dirty="0"/>
            </a:br>
            <a:r>
              <a:rPr lang="en-IN" dirty="0"/>
              <a:t>1. Critical Analysis of Limitations in   Computer Vision Systems</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206409" y="2598589"/>
            <a:ext cx="9779182" cy="3366815"/>
          </a:xfrm>
        </p:spPr>
        <p:txBody>
          <a:bodyPr vert="horz" lIns="91440" tIns="45720" rIns="91440" bIns="45720" rtlCol="0" anchor="t">
            <a:normAutofit/>
          </a:bodyPr>
          <a:lstStyle/>
          <a:p>
            <a:pPr marL="457200" indent="-457200">
              <a:buFont typeface="Arial" panose="020B0604020202020204" pitchFamily="34" charset="0"/>
              <a:buChar char="•"/>
            </a:pPr>
            <a:r>
              <a:rPr lang="en-IN" dirty="0"/>
              <a:t>Sensitive to lighting, shadows, and weather conditions. Difficulty recognizing objects when partially hidden (occlusion). </a:t>
            </a:r>
          </a:p>
          <a:p>
            <a:pPr marL="457200" indent="-457200">
              <a:buFont typeface="Arial" panose="020B0604020202020204" pitchFamily="34" charset="0"/>
              <a:buChar char="•"/>
            </a:pPr>
            <a:r>
              <a:rPr lang="en-IN" dirty="0"/>
              <a:t>Requires large amounts of </a:t>
            </a:r>
            <a:r>
              <a:rPr lang="en-IN" dirty="0" err="1"/>
              <a:t>labeled</a:t>
            </a:r>
            <a:r>
              <a:rPr lang="en-IN" dirty="0"/>
              <a:t> training data. </a:t>
            </a:r>
          </a:p>
          <a:p>
            <a:pPr marL="457200" indent="-457200">
              <a:buFont typeface="Arial" panose="020B0604020202020204" pitchFamily="34" charset="0"/>
              <a:buChar char="•"/>
            </a:pPr>
            <a:r>
              <a:rPr lang="en-IN" dirty="0"/>
              <a:t>Performance decreases with low-quality or noisy images.</a:t>
            </a:r>
          </a:p>
          <a:p>
            <a:pPr marL="457200" indent="-457200">
              <a:buFont typeface="Arial" panose="020B0604020202020204" pitchFamily="34" charset="0"/>
              <a:buChar char="•"/>
            </a:pPr>
            <a:r>
              <a:rPr lang="en-IN" dirty="0"/>
              <a:t>High computational and hardware requirements.</a:t>
            </a:r>
          </a:p>
          <a:p>
            <a:pPr marL="457200" indent="-457200">
              <a:buFont typeface="Arial" panose="020B0604020202020204" pitchFamily="34" charset="0"/>
              <a:buChar char="•"/>
            </a:pPr>
            <a:r>
              <a:rPr lang="en-IN" dirty="0"/>
              <a:t>Can be biased if training data is not diverse.</a:t>
            </a:r>
            <a:endParaRPr lang="en-US" dirty="0"/>
          </a:p>
        </p:txBody>
      </p:sp>
      <p:sp>
        <p:nvSpPr>
          <p:cNvPr id="4" name="TextBox 3">
            <a:extLst>
              <a:ext uri="{FF2B5EF4-FFF2-40B4-BE49-F238E27FC236}">
                <a16:creationId xmlns:a16="http://schemas.microsoft.com/office/drawing/2014/main" id="{9B627C90-2DC4-F0AE-95F5-C44DCFF8E5BC}"/>
              </a:ext>
            </a:extLst>
          </p:cNvPr>
          <p:cNvSpPr txBox="1"/>
          <p:nvPr/>
        </p:nvSpPr>
        <p:spPr>
          <a:xfrm>
            <a:off x="1992677" y="1854547"/>
            <a:ext cx="7521867" cy="646331"/>
          </a:xfrm>
          <a:prstGeom prst="rect">
            <a:avLst/>
          </a:prstGeom>
          <a:noFill/>
        </p:spPr>
        <p:txBody>
          <a:bodyPr wrap="none" rtlCol="0">
            <a:spAutoFit/>
          </a:bodyPr>
          <a:lstStyle/>
          <a:p>
            <a:r>
              <a:rPr lang="en-IN" sz="3600" i="1" dirty="0">
                <a:effectLst>
                  <a:outerShdw blurRad="38100" dist="38100" dir="2700000" algn="tl">
                    <a:srgbClr val="000000">
                      <a:alpha val="43137"/>
                    </a:srgbClr>
                  </a:outerShdw>
                </a:effectLst>
              </a:rPr>
              <a:t>Limitations of Computer Vision Systems</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446457" y="1770280"/>
            <a:ext cx="10033908" cy="2181225"/>
          </a:xfrm>
        </p:spPr>
        <p:txBody>
          <a:bodyPr/>
          <a:lstStyle/>
          <a:p>
            <a:pPr>
              <a:lnSpc>
                <a:spcPct val="100000"/>
              </a:lnSpc>
            </a:pPr>
            <a:r>
              <a:rPr lang="en-IN" sz="2800" b="0" dirty="0">
                <a:latin typeface="+mn-lt"/>
              </a:rPr>
              <a:t>Use data augmentation to improve model robustness.</a:t>
            </a:r>
            <a:br>
              <a:rPr lang="en-IN" sz="2800" b="0" dirty="0">
                <a:latin typeface="+mn-lt"/>
              </a:rPr>
            </a:br>
            <a:r>
              <a:rPr lang="en-IN" sz="2800" b="0" dirty="0">
                <a:latin typeface="+mn-lt"/>
              </a:rPr>
              <a:t>Apply image preprocessing techniques to reduce noise. </a:t>
            </a:r>
            <a:br>
              <a:rPr lang="en-IN" sz="2800" b="0" dirty="0">
                <a:latin typeface="+mn-lt"/>
              </a:rPr>
            </a:br>
            <a:r>
              <a:rPr lang="en-IN" sz="2800" b="0" dirty="0">
                <a:latin typeface="+mn-lt"/>
              </a:rPr>
              <a:t>Utilize advanced deep learning models (CNNs, Vision Transformers).</a:t>
            </a:r>
            <a:br>
              <a:rPr lang="en-IN" sz="2800" b="0" dirty="0">
                <a:latin typeface="+mn-lt"/>
              </a:rPr>
            </a:br>
            <a:r>
              <a:rPr lang="en-IN" sz="2800" b="0" dirty="0">
                <a:latin typeface="+mn-lt"/>
              </a:rPr>
              <a:t>Train on diverse datasets to reduce bias. </a:t>
            </a:r>
            <a:br>
              <a:rPr lang="en-IN" sz="2800" b="0" dirty="0">
                <a:latin typeface="+mn-lt"/>
              </a:rPr>
            </a:br>
            <a:r>
              <a:rPr lang="en-IN" sz="2800" b="0" dirty="0">
                <a:latin typeface="+mn-lt"/>
              </a:rPr>
              <a:t>Use edge computing and GPUs for faster processing. </a:t>
            </a:r>
            <a:br>
              <a:rPr lang="en-IN" sz="2800" b="0" dirty="0">
                <a:latin typeface="+mn-lt"/>
              </a:rPr>
            </a:br>
            <a:r>
              <a:rPr lang="en-IN" sz="2800" b="0" dirty="0">
                <a:latin typeface="+mn-lt"/>
              </a:rPr>
              <a:t>Continuous model updates improve accuracy.</a:t>
            </a:r>
            <a:endParaRPr lang="en-US" sz="2800" b="0" dirty="0">
              <a:latin typeface="+mn-lt"/>
            </a:endParaRPr>
          </a:p>
        </p:txBody>
      </p:sp>
      <p:sp>
        <p:nvSpPr>
          <p:cNvPr id="4" name="TextBox 3">
            <a:extLst>
              <a:ext uri="{FF2B5EF4-FFF2-40B4-BE49-F238E27FC236}">
                <a16:creationId xmlns:a16="http://schemas.microsoft.com/office/drawing/2014/main" id="{0D843625-FCE9-E29E-90CD-4E61861EF052}"/>
              </a:ext>
            </a:extLst>
          </p:cNvPr>
          <p:cNvSpPr txBox="1"/>
          <p:nvPr/>
        </p:nvSpPr>
        <p:spPr>
          <a:xfrm>
            <a:off x="1446457" y="625822"/>
            <a:ext cx="4649543" cy="646331"/>
          </a:xfrm>
          <a:prstGeom prst="rect">
            <a:avLst/>
          </a:prstGeom>
          <a:noFill/>
        </p:spPr>
        <p:txBody>
          <a:bodyPr wrap="none" rtlCol="0">
            <a:spAutoFit/>
          </a:bodyPr>
          <a:lstStyle/>
          <a:p>
            <a:r>
              <a:rPr lang="en-IN" sz="3600" i="1" dirty="0">
                <a:effectLst>
                  <a:outerShdw blurRad="38100" dist="38100" dir="2700000" algn="tl">
                    <a:srgbClr val="000000">
                      <a:alpha val="43137"/>
                    </a:srgbClr>
                  </a:outerShdw>
                </a:effectLst>
              </a:rPr>
              <a:t>Solutions &amp; Key Insights</a:t>
            </a:r>
          </a:p>
        </p:txBody>
      </p:sp>
      <p:sp>
        <p:nvSpPr>
          <p:cNvPr id="7" name="TextBox 6">
            <a:extLst>
              <a:ext uri="{FF2B5EF4-FFF2-40B4-BE49-F238E27FC236}">
                <a16:creationId xmlns:a16="http://schemas.microsoft.com/office/drawing/2014/main" id="{AC043D44-BAA3-FB8C-8707-ACB2398C0D3F}"/>
              </a:ext>
            </a:extLst>
          </p:cNvPr>
          <p:cNvSpPr txBox="1"/>
          <p:nvPr/>
        </p:nvSpPr>
        <p:spPr>
          <a:xfrm>
            <a:off x="638873" y="4537810"/>
            <a:ext cx="11649075" cy="1200329"/>
          </a:xfrm>
          <a:prstGeom prst="rect">
            <a:avLst/>
          </a:prstGeom>
          <a:noFill/>
        </p:spPr>
        <p:txBody>
          <a:bodyPr wrap="square" rtlCol="0">
            <a:spAutoFit/>
          </a:bodyPr>
          <a:lstStyle/>
          <a:p>
            <a:r>
              <a:rPr lang="en-IN" b="1" dirty="0"/>
              <a:t>Conclusion:</a:t>
            </a:r>
            <a:br>
              <a:rPr lang="en-IN" dirty="0"/>
            </a:br>
            <a:r>
              <a:rPr lang="en-IN" dirty="0"/>
              <a:t>Computer Vision is powerful but faces challenges in accuracy, data quality, and computation. Modern AI techniques help overcome these limitations.</a:t>
            </a:r>
          </a:p>
          <a:p>
            <a:endParaRPr lang="en-IN" dirty="0"/>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398142" y="240355"/>
            <a:ext cx="11090912" cy="850733"/>
          </a:xfrm>
        </p:spPr>
        <p:txBody>
          <a:bodyPr/>
          <a:lstStyle/>
          <a:p>
            <a:pPr algn="ctr"/>
            <a:r>
              <a:rPr lang="en-IN" sz="4200" dirty="0"/>
              <a:t>2. Evolution of Computer Vision</a:t>
            </a:r>
            <a:endParaRPr lang="en-US" sz="4200" dirty="0"/>
          </a:p>
        </p:txBody>
      </p:sp>
      <p:sp>
        <p:nvSpPr>
          <p:cNvPr id="7" name="TextBox 6">
            <a:extLst>
              <a:ext uri="{FF2B5EF4-FFF2-40B4-BE49-F238E27FC236}">
                <a16:creationId xmlns:a16="http://schemas.microsoft.com/office/drawing/2014/main" id="{4477AAB6-F60B-800D-7EF7-CE20B2378375}"/>
              </a:ext>
            </a:extLst>
          </p:cNvPr>
          <p:cNvSpPr txBox="1"/>
          <p:nvPr/>
        </p:nvSpPr>
        <p:spPr>
          <a:xfrm>
            <a:off x="2409825" y="1212503"/>
            <a:ext cx="8553450" cy="646331"/>
          </a:xfrm>
          <a:prstGeom prst="rect">
            <a:avLst/>
          </a:prstGeom>
          <a:noFill/>
        </p:spPr>
        <p:txBody>
          <a:bodyPr wrap="square">
            <a:spAutoFit/>
          </a:bodyPr>
          <a:lstStyle/>
          <a:p>
            <a:r>
              <a:rPr lang="en-IN" sz="3600" i="1" dirty="0">
                <a:effectLst>
                  <a:outerShdw blurRad="38100" dist="38100" dir="2700000" algn="tl">
                    <a:srgbClr val="000000">
                      <a:alpha val="43137"/>
                    </a:srgbClr>
                  </a:outerShdw>
                </a:effectLst>
              </a:rPr>
              <a:t>Timeline of Computer Vision Evolution</a:t>
            </a:r>
            <a:endParaRPr lang="en-US" sz="3600" i="1" dirty="0">
              <a:effectLst>
                <a:outerShdw blurRad="38100" dist="38100" dir="2700000" algn="tl">
                  <a:srgbClr val="000000">
                    <a:alpha val="43137"/>
                  </a:srgbClr>
                </a:outerShdw>
              </a:effectLst>
            </a:endParaRPr>
          </a:p>
        </p:txBody>
      </p:sp>
      <p:graphicFrame>
        <p:nvGraphicFramePr>
          <p:cNvPr id="8" name="Table 7">
            <a:extLst>
              <a:ext uri="{FF2B5EF4-FFF2-40B4-BE49-F238E27FC236}">
                <a16:creationId xmlns:a16="http://schemas.microsoft.com/office/drawing/2014/main" id="{18DBDD28-5EB6-2B77-4411-9F156812576C}"/>
              </a:ext>
            </a:extLst>
          </p:cNvPr>
          <p:cNvGraphicFramePr>
            <a:graphicFrameLocks noGrp="1"/>
          </p:cNvGraphicFramePr>
          <p:nvPr>
            <p:extLst>
              <p:ext uri="{D42A27DB-BD31-4B8C-83A1-F6EECF244321}">
                <p14:modId xmlns:p14="http://schemas.microsoft.com/office/powerpoint/2010/main" val="3047146947"/>
              </p:ext>
            </p:extLst>
          </p:nvPr>
        </p:nvGraphicFramePr>
        <p:xfrm>
          <a:off x="857250" y="2078593"/>
          <a:ext cx="10829925" cy="3962400"/>
        </p:xfrm>
        <a:graphic>
          <a:graphicData uri="http://schemas.openxmlformats.org/drawingml/2006/table">
            <a:tbl>
              <a:tblPr/>
              <a:tblGrid>
                <a:gridCol w="4835172">
                  <a:extLst>
                    <a:ext uri="{9D8B030D-6E8A-4147-A177-3AD203B41FA5}">
                      <a16:colId xmlns:a16="http://schemas.microsoft.com/office/drawing/2014/main" val="413252895"/>
                    </a:ext>
                  </a:extLst>
                </a:gridCol>
                <a:gridCol w="5994753">
                  <a:extLst>
                    <a:ext uri="{9D8B030D-6E8A-4147-A177-3AD203B41FA5}">
                      <a16:colId xmlns:a16="http://schemas.microsoft.com/office/drawing/2014/main" val="4005136899"/>
                    </a:ext>
                  </a:extLst>
                </a:gridCol>
              </a:tblGrid>
              <a:tr h="0">
                <a:tc>
                  <a:txBody>
                    <a:bodyPr/>
                    <a:lstStyle/>
                    <a:p>
                      <a:pPr>
                        <a:buNone/>
                      </a:pPr>
                      <a:r>
                        <a:rPr lang="en-IN" sz="2800"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Milestone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6329064"/>
                  </a:ext>
                </a:extLst>
              </a:tr>
              <a:tr h="0">
                <a:tc>
                  <a:txBody>
                    <a:bodyPr/>
                    <a:lstStyle/>
                    <a:p>
                      <a:pPr>
                        <a:buNone/>
                      </a:pPr>
                      <a:r>
                        <a:rPr lang="en-IN" sz="2800" dirty="0"/>
                        <a:t>1960s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Basic image processing introduced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8226231"/>
                  </a:ext>
                </a:extLst>
              </a:tr>
              <a:tr h="0">
                <a:tc>
                  <a:txBody>
                    <a:bodyPr/>
                    <a:lstStyle/>
                    <a:p>
                      <a:pPr>
                        <a:buNone/>
                      </a:pPr>
                      <a:r>
                        <a:rPr lang="en-IN" sz="2800" dirty="0"/>
                        <a:t>1980s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a:t>Feature extraction techniques developed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0408044"/>
                  </a:ext>
                </a:extLst>
              </a:tr>
              <a:tr h="0">
                <a:tc>
                  <a:txBody>
                    <a:bodyPr/>
                    <a:lstStyle/>
                    <a:p>
                      <a:pPr>
                        <a:buNone/>
                      </a:pPr>
                      <a:r>
                        <a:rPr lang="en-IN" sz="2800"/>
                        <a:t>1990s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dirty="0"/>
                        <a:t>Machine learning applied to 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5905250"/>
                  </a:ext>
                </a:extLst>
              </a:tr>
              <a:tr h="0">
                <a:tc>
                  <a:txBody>
                    <a:bodyPr/>
                    <a:lstStyle/>
                    <a:p>
                      <a:pPr>
                        <a:buNone/>
                      </a:pPr>
                      <a:r>
                        <a:rPr lang="en-IN" sz="2800"/>
                        <a:t>2012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dirty="0"/>
                        <a:t>Deep Learning revolution (</a:t>
                      </a:r>
                      <a:r>
                        <a:rPr lang="en-IN" sz="2800" dirty="0" err="1"/>
                        <a:t>AlexNet</a:t>
                      </a:r>
                      <a:r>
                        <a:rPr lang="en-IN"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80884"/>
                  </a:ext>
                </a:extLst>
              </a:tr>
              <a:tr h="0">
                <a:tc>
                  <a:txBody>
                    <a:bodyPr/>
                    <a:lstStyle/>
                    <a:p>
                      <a:pPr>
                        <a:buNone/>
                      </a:pPr>
                      <a:r>
                        <a:rPr lang="en-IN" sz="2800"/>
                        <a:t>2020s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800" dirty="0"/>
                        <a:t>Vision Transformers and Generative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3333574"/>
                  </a:ext>
                </a:extLst>
              </a:tr>
            </a:tbl>
          </a:graphicData>
        </a:graphic>
      </p:graphicFrame>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900792" y="1047750"/>
            <a:ext cx="9779183" cy="607695"/>
          </a:xfrm>
        </p:spPr>
        <p:txBody>
          <a:bodyPr/>
          <a:lstStyle/>
          <a:p>
            <a:r>
              <a:rPr lang="en-IN" sz="3200" dirty="0"/>
              <a:t>Impact of Computer Vision Evolution</a:t>
            </a:r>
            <a:endParaRPr lang="en-US" sz="3200" dirty="0"/>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623888" y="2219325"/>
            <a:ext cx="10682287" cy="3908425"/>
          </a:xfrm>
        </p:spPr>
        <p:txBody>
          <a:bodyPr>
            <a:noAutofit/>
          </a:bodyPr>
          <a:lstStyle/>
          <a:p>
            <a:r>
              <a:rPr lang="en-IN" sz="2800" dirty="0"/>
              <a:t>Improved object detection and recognition. </a:t>
            </a:r>
          </a:p>
          <a:p>
            <a:r>
              <a:rPr lang="en-IN" sz="2800" dirty="0"/>
              <a:t>Enabled facial recognition systems. </a:t>
            </a:r>
          </a:p>
          <a:p>
            <a:r>
              <a:rPr lang="en-IN" sz="2800" dirty="0"/>
              <a:t>Supports autonomous vehicles and robotics. </a:t>
            </a:r>
          </a:p>
          <a:p>
            <a:r>
              <a:rPr lang="en-IN" sz="2800" dirty="0"/>
              <a:t>Used in medical image analysis. </a:t>
            </a:r>
          </a:p>
          <a:p>
            <a:r>
              <a:rPr lang="en-IN" sz="2800" dirty="0"/>
              <a:t>Powers smart surveillance and security systems. </a:t>
            </a:r>
          </a:p>
          <a:p>
            <a:r>
              <a:rPr lang="en-IN" sz="2800" b="1" dirty="0"/>
              <a:t>Conclusion:</a:t>
            </a:r>
            <a:br>
              <a:rPr lang="en-IN" sz="2800" dirty="0"/>
            </a:br>
            <a:r>
              <a:rPr lang="en-IN" sz="2800" dirty="0"/>
              <a:t>Advancements in AI and deep learning have transformed Computer Vision into a key technology for modern intelligent systems.</a:t>
            </a:r>
          </a:p>
        </p:txBody>
      </p:sp>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0" y="0"/>
            <a:ext cx="6938281" cy="1599150"/>
          </a:xfrm>
        </p:spPr>
        <p:txBody>
          <a:bodyPr/>
          <a:lstStyle/>
          <a:p>
            <a:pPr algn="ctr"/>
            <a:r>
              <a:rPr lang="en-IN" sz="4200" dirty="0"/>
              <a:t>3. Role of Feature Extraction in Computer Vision</a:t>
            </a:r>
            <a:endParaRPr lang="en-US" sz="4200" dirty="0"/>
          </a:p>
        </p:txBody>
      </p:sp>
      <p:sp>
        <p:nvSpPr>
          <p:cNvPr id="3" name="Subtitle 2">
            <a:extLst>
              <a:ext uri="{FF2B5EF4-FFF2-40B4-BE49-F238E27FC236}">
                <a16:creationId xmlns:a16="http://schemas.microsoft.com/office/drawing/2014/main" id="{C62C8177-F0B6-B02C-3682-183D8307E999}"/>
              </a:ext>
            </a:extLst>
          </p:cNvPr>
          <p:cNvSpPr>
            <a:spLocks noGrp="1"/>
          </p:cNvSpPr>
          <p:nvPr>
            <p:ph type="subTitle" idx="1"/>
          </p:nvPr>
        </p:nvSpPr>
        <p:spPr>
          <a:xfrm>
            <a:off x="346184" y="1608675"/>
            <a:ext cx="6245912" cy="912850"/>
          </a:xfrm>
        </p:spPr>
        <p:txBody>
          <a:bodyPr/>
          <a:lstStyle/>
          <a:p>
            <a:r>
              <a:rPr lang="en-IN" sz="3600" i="1" dirty="0">
                <a:effectLst>
                  <a:outerShdw blurRad="38100" dist="38100" dir="2700000" algn="tl">
                    <a:srgbClr val="000000">
                      <a:alpha val="43137"/>
                    </a:srgbClr>
                  </a:outerShdw>
                </a:effectLst>
              </a:rPr>
              <a:t>What is Feature Extraction?</a:t>
            </a:r>
            <a:endParaRPr lang="en-US" sz="3600" i="1" dirty="0">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D0EC7826-5A58-EEA3-AE5A-1DCB9D77A287}"/>
              </a:ext>
            </a:extLst>
          </p:cNvPr>
          <p:cNvSpPr txBox="1"/>
          <p:nvPr/>
        </p:nvSpPr>
        <p:spPr>
          <a:xfrm>
            <a:off x="346184" y="2263892"/>
            <a:ext cx="8312041" cy="4678204"/>
          </a:xfrm>
          <a:prstGeom prst="rect">
            <a:avLst/>
          </a:prstGeom>
          <a:noFill/>
        </p:spPr>
        <p:txBody>
          <a:bodyPr wrap="square" rtlCol="0">
            <a:spAutoFit/>
          </a:bodyPr>
          <a:lstStyle/>
          <a:p>
            <a:r>
              <a:rPr lang="en-IN" sz="2800" b="1" dirty="0">
                <a:solidFill>
                  <a:schemeClr val="bg1"/>
                </a:solidFill>
              </a:rPr>
              <a:t>Definition:</a:t>
            </a:r>
            <a:br>
              <a:rPr lang="en-IN" sz="2800" dirty="0">
                <a:solidFill>
                  <a:schemeClr val="bg1"/>
                </a:solidFill>
              </a:rPr>
            </a:br>
            <a:r>
              <a:rPr lang="en-IN" sz="2800" dirty="0">
                <a:solidFill>
                  <a:schemeClr val="bg1"/>
                </a:solidFill>
              </a:rPr>
              <a:t>Feature extraction is the process of identifying important characteristics from images to simplify analysis and improve recognition.</a:t>
            </a:r>
          </a:p>
          <a:p>
            <a:r>
              <a:rPr lang="en-IN" sz="2800" b="1" dirty="0">
                <a:solidFill>
                  <a:schemeClr val="bg1"/>
                </a:solidFill>
              </a:rPr>
              <a:t>Examples of Features:</a:t>
            </a:r>
            <a:endParaRPr lang="en-IN" sz="2800" dirty="0">
              <a:solidFill>
                <a:schemeClr val="bg1"/>
              </a:solidFill>
            </a:endParaRPr>
          </a:p>
          <a:p>
            <a:pPr marL="457200" indent="-457200">
              <a:buFont typeface="Arial" panose="020B0604020202020204" pitchFamily="34" charset="0"/>
              <a:buChar char="•"/>
            </a:pPr>
            <a:r>
              <a:rPr lang="en-IN" sz="2800" dirty="0">
                <a:solidFill>
                  <a:schemeClr val="bg1"/>
                </a:solidFill>
              </a:rPr>
              <a:t>Edges </a:t>
            </a:r>
          </a:p>
          <a:p>
            <a:pPr marL="457200" indent="-457200">
              <a:buFont typeface="Arial" panose="020B0604020202020204" pitchFamily="34" charset="0"/>
              <a:buChar char="•"/>
            </a:pPr>
            <a:r>
              <a:rPr lang="en-IN" sz="2800" dirty="0">
                <a:solidFill>
                  <a:schemeClr val="bg1"/>
                </a:solidFill>
              </a:rPr>
              <a:t>Corners </a:t>
            </a:r>
          </a:p>
          <a:p>
            <a:pPr marL="457200" indent="-457200">
              <a:buFont typeface="Arial" panose="020B0604020202020204" pitchFamily="34" charset="0"/>
              <a:buChar char="•"/>
            </a:pPr>
            <a:r>
              <a:rPr lang="en-IN" sz="2800" dirty="0">
                <a:solidFill>
                  <a:schemeClr val="bg1"/>
                </a:solidFill>
              </a:rPr>
              <a:t>Shapes </a:t>
            </a:r>
          </a:p>
          <a:p>
            <a:pPr marL="457200" indent="-457200">
              <a:buFont typeface="Arial" panose="020B0604020202020204" pitchFamily="34" charset="0"/>
              <a:buChar char="•"/>
            </a:pPr>
            <a:r>
              <a:rPr lang="en-IN" sz="2800" dirty="0">
                <a:solidFill>
                  <a:schemeClr val="bg1"/>
                </a:solidFill>
              </a:rPr>
              <a:t>Texture </a:t>
            </a:r>
          </a:p>
          <a:p>
            <a:pPr marL="457200" indent="-457200">
              <a:buFont typeface="Arial" panose="020B0604020202020204" pitchFamily="34" charset="0"/>
              <a:buChar char="•"/>
            </a:pPr>
            <a:r>
              <a:rPr lang="en-IN" sz="2800" dirty="0" err="1">
                <a:solidFill>
                  <a:schemeClr val="bg1"/>
                </a:solidFill>
              </a:rPr>
              <a:t>Color</a:t>
            </a:r>
            <a:r>
              <a:rPr lang="en-IN" sz="2800" dirty="0">
                <a:solidFill>
                  <a:schemeClr val="bg1"/>
                </a:solidFill>
              </a:rPr>
              <a:t> patterns</a:t>
            </a:r>
          </a:p>
          <a:p>
            <a:endParaRPr lang="en-IN" dirty="0"/>
          </a:p>
        </p:txBody>
      </p:sp>
    </p:spTree>
    <p:extLst>
      <p:ext uri="{BB962C8B-B14F-4D97-AF65-F5344CB8AC3E}">
        <p14:creationId xmlns:p14="http://schemas.microsoft.com/office/powerpoint/2010/main" val="411715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834117" y="504825"/>
            <a:ext cx="9601200" cy="856447"/>
          </a:xfrm>
        </p:spPr>
        <p:txBody>
          <a:bodyPr/>
          <a:lstStyle/>
          <a:p>
            <a:r>
              <a:rPr lang="en-IN" sz="3600" b="0" i="1" dirty="0">
                <a:effectLst>
                  <a:outerShdw blurRad="38100" dist="38100" dir="2700000" algn="tl">
                    <a:srgbClr val="000000">
                      <a:alpha val="43137"/>
                    </a:srgbClr>
                  </a:outerShdw>
                </a:effectLst>
              </a:rPr>
              <a:t>Importance of Feature Extraction</a:t>
            </a:r>
            <a:endParaRPr lang="en-US" sz="3600" b="0"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834117" y="1500381"/>
            <a:ext cx="8414657" cy="3332832"/>
          </a:xfrm>
        </p:spPr>
        <p:txBody>
          <a:bodyPr>
            <a:normAutofit fontScale="25000" lnSpcReduction="20000"/>
          </a:bodyPr>
          <a:lstStyle/>
          <a:p>
            <a:r>
              <a:rPr lang="en-US" sz="7000" dirty="0"/>
              <a:t>This is a powerful tool in public speaking. It involves varying pitch, tone, and volume to convey emotion, emphasize points, and maintain interest: </a:t>
            </a:r>
          </a:p>
          <a:p>
            <a:pPr lvl="1"/>
            <a:r>
              <a:rPr lang="en-US" sz="7000" dirty="0"/>
              <a:t>Pitch variation</a:t>
            </a:r>
          </a:p>
          <a:p>
            <a:pPr lvl="1"/>
            <a:r>
              <a:rPr lang="en-US" sz="7000" dirty="0"/>
              <a:t>Tone inflection</a:t>
            </a:r>
          </a:p>
          <a:p>
            <a:r>
              <a:rPr lang="en-US" sz="7000" dirty="0"/>
              <a:t>Volume control</a:t>
            </a:r>
            <a:r>
              <a:rPr lang="en-IN" sz="7000" b="1" dirty="0"/>
              <a:t>Practical Problems Solved:</a:t>
            </a:r>
            <a:endParaRPr lang="en-IN" sz="7000" dirty="0"/>
          </a:p>
          <a:p>
            <a:r>
              <a:rPr lang="en-IN" sz="7000" dirty="0"/>
              <a:t>Face Recognition </a:t>
            </a:r>
          </a:p>
          <a:p>
            <a:r>
              <a:rPr lang="en-IN" sz="7000" dirty="0"/>
              <a:t>Object Detection </a:t>
            </a:r>
          </a:p>
          <a:p>
            <a:r>
              <a:rPr lang="en-IN" sz="7000" dirty="0"/>
              <a:t>Medical Image Analysis </a:t>
            </a:r>
          </a:p>
          <a:p>
            <a:r>
              <a:rPr lang="en-IN" sz="7000" dirty="0"/>
              <a:t>Traffic Sign Recognition </a:t>
            </a:r>
          </a:p>
          <a:p>
            <a:r>
              <a:rPr lang="en-IN" sz="7000" b="1" dirty="0"/>
              <a:t>Benefits:</a:t>
            </a:r>
            <a:endParaRPr lang="en-IN" sz="7000" dirty="0"/>
          </a:p>
          <a:p>
            <a:r>
              <a:rPr lang="en-IN" sz="7000" dirty="0"/>
              <a:t>Reduces image complexity. </a:t>
            </a:r>
          </a:p>
          <a:p>
            <a:r>
              <a:rPr lang="en-IN" sz="7000" dirty="0"/>
              <a:t>Improves classification accuracy. </a:t>
            </a:r>
          </a:p>
          <a:p>
            <a:r>
              <a:rPr lang="en-IN" sz="7000" dirty="0"/>
              <a:t>Decreases processing time. </a:t>
            </a:r>
          </a:p>
          <a:p>
            <a:r>
              <a:rPr lang="en-IN" sz="7000" dirty="0"/>
              <a:t>Enhances machine learning performance. </a:t>
            </a:r>
          </a:p>
          <a:p>
            <a:r>
              <a:rPr lang="en-IN" sz="7000" b="1" dirty="0"/>
              <a:t>Conclusion:</a:t>
            </a:r>
            <a:br>
              <a:rPr lang="en-IN" sz="7000" dirty="0"/>
            </a:br>
            <a:r>
              <a:rPr lang="en-IN" sz="7000" dirty="0"/>
              <a:t>Feature extraction is a fundamental step in Computer Vision that helps systems identify and classify objects efficiently.</a:t>
            </a:r>
          </a:p>
          <a:p>
            <a:pPr lvl="1"/>
            <a:endParaRPr lang="en-US" dirty="0"/>
          </a:p>
        </p:txBody>
      </p:sp>
    </p:spTree>
    <p:extLst>
      <p:ext uri="{BB962C8B-B14F-4D97-AF65-F5344CB8AC3E}">
        <p14:creationId xmlns:p14="http://schemas.microsoft.com/office/powerpoint/2010/main" val="1265939620"/>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19</TotalTime>
  <Words>410</Words>
  <Application>Microsoft Office PowerPoint</Application>
  <PresentationFormat>Widescreen</PresentationFormat>
  <Paragraphs>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Tenorite</vt:lpstr>
      <vt:lpstr>Custom</vt:lpstr>
      <vt:lpstr>TECHNICAL PRESENTATION</vt:lpstr>
      <vt:lpstr> 1. Critical Analysis of Limitations in   Computer Vision Systems</vt:lpstr>
      <vt:lpstr>Use data augmentation to improve model robustness. Apply image preprocessing techniques to reduce noise.  Utilize advanced deep learning models (CNNs, Vision Transformers). Train on diverse datasets to reduce bias.  Use edge computing and GPUs for faster processing.  Continuous model updates improve accuracy.</vt:lpstr>
      <vt:lpstr>2. Evolution of Computer Vision</vt:lpstr>
      <vt:lpstr>Impact of Computer Vision Evolution</vt:lpstr>
      <vt:lpstr>3. Role of Feature Extraction in Computer Vision</vt:lpstr>
      <vt:lpstr>Importance of Feature Extraction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Kanmani</dc:creator>
  <cp:lastModifiedBy>Kanmani</cp:lastModifiedBy>
  <cp:revision>1</cp:revision>
  <dcterms:created xsi:type="dcterms:W3CDTF">2026-07-20T04:54:29Z</dcterms:created>
  <dcterms:modified xsi:type="dcterms:W3CDTF">2026-07-20T05:14:23Z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